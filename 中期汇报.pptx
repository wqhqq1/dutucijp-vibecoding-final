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760c26571b4221" /><Relationship Type="http://schemas.openxmlformats.org/officeDocument/2006/relationships/extended-properties" Target="/docProps/app.xml" Id="R4c0de69d85054163" /><Relationship Type="http://schemas.openxmlformats.org/officeDocument/2006/relationships/officeDocument" Target="/ppt/presentation.xml" Id="R787031a4a7e84f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b59b08a949493a"/>
  </p:sldMasterIdLst>
  <p:notesMasterIdLst>
    <p:notesMasterId xmlns:r="http://schemas.openxmlformats.org/officeDocument/2006/relationships" r:id="Rca2b630635154271"/>
  </p:notesMasterIdLst>
  <p:sldIdLst>
    <p:sldId xmlns:r="http://schemas.openxmlformats.org/officeDocument/2006/relationships" id="256" r:id="R5667882c2a754efa"/>
    <p:sldId xmlns:r="http://schemas.openxmlformats.org/officeDocument/2006/relationships" id="257" r:id="R334dc36acbf34310"/>
    <p:sldId xmlns:r="http://schemas.openxmlformats.org/officeDocument/2006/relationships" id="258" r:id="Rd4b4a7c999e74b15"/>
    <p:sldId xmlns:r="http://schemas.openxmlformats.org/officeDocument/2006/relationships" id="259" r:id="Rd752927a3a7b49d9"/>
    <p:sldId xmlns:r="http://schemas.openxmlformats.org/officeDocument/2006/relationships" id="260" r:id="R2c9b9c133fba44ef"/>
    <p:sldId xmlns:r="http://schemas.openxmlformats.org/officeDocument/2006/relationships" id="261" r:id="Rdf7fd4ddb2fa47cb"/>
    <p:sldId xmlns:r="http://schemas.openxmlformats.org/officeDocument/2006/relationships" id="262" r:id="R8fad567a548c4ccf"/>
    <p:sldId xmlns:r="http://schemas.openxmlformats.org/officeDocument/2006/relationships" id="263" r:id="Rd916402550594c39"/>
    <p:sldId xmlns:r="http://schemas.openxmlformats.org/officeDocument/2006/relationships" id="264" r:id="R7c583e4065e14dbd"/>
    <p:sldId xmlns:r="http://schemas.openxmlformats.org/officeDocument/2006/relationships" id="265" r:id="Rb19c592c924b4c79"/>
  </p:sldIdLst>
  <p:sldSz cx="121932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eb3219cb2140a3" /><Relationship Type="http://schemas.openxmlformats.org/officeDocument/2006/relationships/slideMaster" Target="/ppt/slideMasters/slideMaster1.xml" Id="Rf2b59b08a949493a" /><Relationship Type="http://schemas.openxmlformats.org/officeDocument/2006/relationships/notesMaster" Target="/ppt/notesMasters/notesMaster1.xml" Id="Rca2b630635154271" /><Relationship Type="http://schemas.openxmlformats.org/officeDocument/2006/relationships/presProps" Target="/ppt/presProps.xml" Id="R76e52cc5442e4d4a" /><Relationship Type="http://schemas.openxmlformats.org/officeDocument/2006/relationships/viewProps" Target="/ppt/viewProps.xml" Id="R08c7b3bd80c74e7b" /><Relationship Type="http://schemas.openxmlformats.org/officeDocument/2006/relationships/tableStyles" Target="/ppt/tableStyles.xml" Id="Rf5a7c4094a6d4723" /><Relationship Type="http://schemas.openxmlformats.org/officeDocument/2006/relationships/slide" Target="/ppt/slides/slide1.xml" Id="R5667882c2a754efa" /><Relationship Type="http://schemas.openxmlformats.org/officeDocument/2006/relationships/slide" Target="/ppt/slides/slide2.xml" Id="R334dc36acbf34310" /><Relationship Type="http://schemas.openxmlformats.org/officeDocument/2006/relationships/slide" Target="/ppt/slides/slide3.xml" Id="Rd4b4a7c999e74b15" /><Relationship Type="http://schemas.openxmlformats.org/officeDocument/2006/relationships/slide" Target="/ppt/slides/slide4.xml" Id="Rd752927a3a7b49d9" /><Relationship Type="http://schemas.openxmlformats.org/officeDocument/2006/relationships/slide" Target="/ppt/slides/slide5.xml" Id="R2c9b9c133fba44ef" /><Relationship Type="http://schemas.openxmlformats.org/officeDocument/2006/relationships/slide" Target="/ppt/slides/slide6.xml" Id="Rdf7fd4ddb2fa47cb" /><Relationship Type="http://schemas.openxmlformats.org/officeDocument/2006/relationships/slide" Target="/ppt/slides/slide7.xml" Id="R8fad567a548c4ccf" /><Relationship Type="http://schemas.openxmlformats.org/officeDocument/2006/relationships/slide" Target="/ppt/slides/slide8.xml" Id="Rd916402550594c39" /><Relationship Type="http://schemas.openxmlformats.org/officeDocument/2006/relationships/slide" Target="/ppt/slides/slide9.xml" Id="R7c583e4065e14dbd" /><Relationship Type="http://schemas.openxmlformats.org/officeDocument/2006/relationships/slide" Target="/ppt/slides/slide10.xml" Id="Rb19c592c924b4c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ccc4645e5b4a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703dd0ecf64f92" /><Relationship Type="http://schemas.openxmlformats.org/officeDocument/2006/relationships/notesMaster" Target="/ppt/notesMasters/notesMaster1.xml" Id="R22c637a593d64d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cfef8cc2eb4ec0" /><Relationship Type="http://schemas.openxmlformats.org/officeDocument/2006/relationships/notesMaster" Target="/ppt/notesMasters/notesMaster1.xml" Id="R1068253d885146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311655626b42e3" /><Relationship Type="http://schemas.openxmlformats.org/officeDocument/2006/relationships/notesMaster" Target="/ppt/notesMasters/notesMaster1.xml" Id="R8d4a5bbf98c64f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ca4e985b124521" /><Relationship Type="http://schemas.openxmlformats.org/officeDocument/2006/relationships/notesMaster" Target="/ppt/notesMasters/notesMaster1.xml" Id="R2d1d9e3f705442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594a10cb824eeb" /><Relationship Type="http://schemas.openxmlformats.org/officeDocument/2006/relationships/notesMaster" Target="/ppt/notesMasters/notesMaster1.xml" Id="R326a3b8be8354f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e1bc8d2e3a408f" /><Relationship Type="http://schemas.openxmlformats.org/officeDocument/2006/relationships/notesMaster" Target="/ppt/notesMasters/notesMaster1.xml" Id="Rf50aa08ae3d846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72807ea9be435c" /><Relationship Type="http://schemas.openxmlformats.org/officeDocument/2006/relationships/notesMaster" Target="/ppt/notesMasters/notesMaster1.xml" Id="R568472255fd542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57452547214436" /><Relationship Type="http://schemas.openxmlformats.org/officeDocument/2006/relationships/notesMaster" Target="/ppt/notesMasters/notesMaster1.xml" Id="R9b1e16f6c43a49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dd5ad1e55143cd" /><Relationship Type="http://schemas.openxmlformats.org/officeDocument/2006/relationships/notesMaster" Target="/ppt/notesMasters/notesMaster1.xml" Id="Rc1233931145342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f137a8e25a4bc5" /><Relationship Type="http://schemas.openxmlformats.org/officeDocument/2006/relationships/notesMaster" Target="/ppt/notesMasters/notesMaster1.xml" Id="R884322eb062b46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计划讲述10秒。尚未由本人计时演练。</a:t>
            </a:r>
          </a:p>
          <a:p xmlns:a="http://schemas.openxmlformats.org/drawingml/2006/main">
            <a:r>
              <a:t>这是退货对账与差异处理系统中期可审阅初稿。当前全量支持与四项性能底线已实测通过，课程材料及本人验收仍有待办。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证据路径：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C:\Users\wqhqq\OneDrive\docs\大学\library-based-software-programming\软件编程大作业\退货对账与差异处理系统\选题自查表.md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C:\Users\wqhqq\OneDrive\docs\大学\library-based-software-programming\软件编程大作业\退货对账与差异处理系统\每日工作记录\2026-10-16\原始输出\正式NFR01-03\summary.json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C:\Users\wqhqq\OneDrive\docs\大学\library-based-software-programming\软件编程大作业\退货对账与差异处理系统\每日工作记录\2026-10-16\原始输出\正式NFR04\summary.json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适用边界：以实际记录为准。</a:t>
            </a:r>
          </a:p>
          <a:p xmlns:a="http://schemas.openxmlformats.org/drawingml/2006/main">
            <a:r>
              <a:t>材料状态截至2026-10-16，尚未冻结。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计划讲述25秒。尚未由本人计时演练。</a:t>
            </a:r>
          </a:p>
          <a:p xmlns:a="http://schemas.openxmlformats.org/drawingml/2006/main">
            <a:r>
              <a:t>公开数据来自UCI Online Retail II。系统面对财务、仓库、管理员三类角色。财务派单，责任人核查，管理员查看全局。屏幕中的4,991条是year1初始差异，并非4,991个人工已经处理完的工单。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证据路径：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C:\Users\wqhqq\OneDrive\docs\大学\library-based-software-programming\软件编程大作业\退货对账与差异处理系统\要做什么.md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C:\Users\wqhqq\OneDrive\docs\大学\library-based-software-programming\软件编程大作业\退货对账与差异处理系统\每日工作记录\2026-10-15\截图\FR12-16浏览器验收\01-财务差异总览.jpg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适用边界：没有访谈证据可证明某企业原来使用何种手工系统，因此“减少逐行筛选与备注”是课程设计目标。交易真实，匹配为规则推断，角色及人工处理是课程模拟。截图为10-15版本，不证明10-16首屏速度。</a:t>
            </a:r>
          </a:p>
          <a:p xmlns:a="http://schemas.openxmlformats.org/drawingml/2006/main">
            <a:r>
              <a:t>材料状态截至2026-10-16，尚未冻结。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计划讲述25秒。尚未由本人计时演练。</a:t>
            </a:r>
          </a:p>
          <a:p xmlns:a="http://schemas.openxmlformats.org/drawingml/2006/main">
            <a:r>
              <a:t>七项规模要求分别对应规格中的编号。十八条需求是定义数，不能等同十八条本人真机全部验收。五个模块已经实现且有自动覆盖，个人操作仍有缺口。四项非功能必须底线现在全部通过。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证据路径：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C:\Users\wqhqq\OneDrive\docs\大学\library-based-software-programming\软件编程大作业\退货对账与差异处理系统\选题自查表.md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C:\Users\wqhqq\OneDrive\docs\大学\library-based-software-programming\软件编程大作业\退货对账与差异处理系统\要做什么.md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C:\Users\wqhqq\OneDrive\docs\大学\library-based-software-programming\软件编程大作业\退货对账与差异处理系统\怎么做.md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C:\Users\wqhqq\OneDrive\docs\大学\library-based-software-programming\软件编程大作业\退货对账与差异处理系统\怎么算做对.md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C:\Users\wqhqq\OneDrive\docs\大学\library-based-software-programming\软件编程大作业\退货对账与差异处理系统\每日工作记录\2026-10-16\原始输出\正式NFR01-03\summary.json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C:\Users\wqhqq\OneDrive\docs\大学\library-based-software-programming\软件编程大作业\退货对账与差异处理系统\每日工作记录\2026-10-16\原始输出\正式NFR04\summary.json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适用边界：优选目标中首次全量45秒和重算5秒未达到。模块数与本人完成数分开，未把设计数量当成人工验收数量。</a:t>
            </a:r>
          </a:p>
          <a:p xmlns:a="http://schemas.openxmlformats.org/drawingml/2006/main">
            <a:r>
              <a:t>材料状态截至2026-10-16，尚未冻结。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计划讲述25秒。尚未由本人计时演练。</a:t>
            </a:r>
          </a:p>
          <a:p xmlns:a="http://schemas.openxmlformats.org/drawingml/2006/main">
            <a:r>
              <a:t>五模块为数据准备、对账、工作流、认证审计、查询复现。以重复派单说明可测试的规格：财务已把同一差异派给warehouse，再派应拒绝并保留责任人，截图真实显示“已有责任人：warehouse”。画面是已关闭的0:180案例。待处理重复派单另有07及服务记录。隔离SQLite并发测试另验证争抢仅一次成功且状态、审计原子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证据路径：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C:\Users\wqhqq\OneDrive\docs\大学\library-based-software-programming\软件编程大作业\退货对账与差异处理系统\要做什么.md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C:\Users\wqhqq\OneDrive\docs\大学\library-based-software-programming\软件编程大作业\退货对账与差异处理系统\怎么做.md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C:\Users\wqhqq\OneDrive\docs\大学\library-based-software-programming\软件编程大作业\退货对账与差异处理系统\怎么算做对.md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C:\Users\wqhqq\OneDrive\docs\大学\library-based-software-programming\软件编程大作业\退货对账与差异处理系统\每日工作记录\2026-10-15\截图\FR12-16浏览器验收\04-重复派单拒绝.jpg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C:\Users\wqhqq\OneDrive\docs\大学\library-based-software-programming\软件编程大作业\退货对账与差异处理系统\每日工作记录\2026-10-15\FR09-15工作流记录.md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适用边界：48条TC是规格条目，不能与97个自动测试数量互换。截图验证重复派单，真实同时争抢使用隔离测试证据。</a:t>
            </a:r>
          </a:p>
          <a:p xmlns:a="http://schemas.openxmlformats.org/drawingml/2006/main">
            <a:r>
              <a:t>材料状态截至2026-10-16，尚未冻结。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计划讲述25秒。尚未由本人计时演练。</a:t>
            </a:r>
          </a:p>
          <a:p xmlns:a="http://schemas.openxmlformats.org/drawingml/2006/main">
            <a:r>
              <a:t>技术选择保持Go/Gin/SQLite、React/TypeScript/Vite和Python准备。其他后端没有同条件完整对比，不能声称Go相对它们快几倍。图中旧版198.841174秒与新版三次最大72.3367323秒均为完整官方all首次流程，包含准备、导入、索引、计算、持久验算和关闭。其余两次71.9751851、71.9158387秒。重算三次最大10.9557399秒。一万行最大1.8390835秒。后台活动中10路共300次真实认证HTTP，0失败，P95 11.7245毫秒。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证据路径：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C:\Users\wqhqq\OneDrive\docs\大学\library-based-software-programming\软件编程大作业\退货对账与差异处理系统\决定记录.md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C:\Users\wqhqq\OneDrive\docs\大学\library-based-software-programming\软件编程大作业\退货对账与差异处理系统\每日工作记录\2026-10-16\原始输出\正式NFR01-03\summary.json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C:\Users\wqhqq\OneDrive\docs\大学\library-based-software-programming\软件编程大作业\退货对账与差异处理系统\每日工作记录\2026-10-16\原始输出\正式NFR04\summary.json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C:\Users\wqhqq\OneDrive\docs\大学\library-based-software-programming\软件编程大作业\退货对账与差异处理系统\每日工作记录\2026-10-15\FR12-18执行记录.md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边界：每次NFR01/02新准备目录和空库，NFR03新输出库重算。未主动清OS文件缓存，下载、编译、安装不计。全量45秒及重算5秒优选目标尚未达。并发测试使用隔离随机账户真实密码加TOTP协议流程，不是用户真机TOTP。后端2至3毫秒诊断不代表浏览器从登录到渲染。</a:t>
            </a:r>
          </a:p>
          <a:p xmlns:a="http://schemas.openxmlformats.org/drawingml/2006/main">
            <a:r>
              <a:t>材料状态截至2026-10-16，尚未冻结。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计划讲述40秒。尚未由本人计时演练。</a:t>
            </a:r>
          </a:p>
          <a:p xmlns:a="http://schemas.openxmlformats.org/drawingml/2006/main">
            <a:r>
              <a:t>第一版演示使用首工作表year1，最终all已经实际跑通。year1原始525461等于接纳521770加排除3691，接纳取消10205等于自动5214、疑似2699、无合格原单2292。全量接纳取消19164等于自动9714、疑似6275、无合格原单3175，初始差异9450。演示0:181没有当前合格候选，不能制造关联，说明资料不足后结案。开始、关闭以及原有责任人都可从审计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证据路径：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C:\Users\wqhqq\OneDrive\docs\大学\library-based-software-programming\软件编程大作业\退货对账与差异处理系统\每日工作记录\2026-10-15\截图\FR12-16浏览器验收\14-结论关闭与不可修改.jpg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C:\Users\wqhqq\OneDrive\docs\大学\library-based-software-programming\软件编程大作业\退货对账与差异处理系统\每日工作记录\2026-10-15\FR18浏览器截图与PPT暂停.md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C:\Users\wqhqq\OneDrive\docs\大学\library-based-software-programming\软件编程大作业\退货对账与差异处理系统\每日工作记录\2026-10-16\性能优化与验证.md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边界：year1为第一个工作表，非严格自然年。自动覆盖约51.09%不是关联真值准确率。用户亲自完成Passkey，案例0:181业务点击由代理完成；用户原有0:180记录另列。人工确认只查看过真实候选，没有无依据选择。</a:t>
            </a:r>
          </a:p>
          <a:p xmlns:a="http://schemas.openxmlformats.org/drawingml/2006/main">
            <a:r>
              <a:t>材料状态截至2026-10-16，尚未冻结。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计划讲述40秒。尚未由本人计时演练。</a:t>
            </a:r>
          </a:p>
          <a:p xmlns:a="http://schemas.openxmlformats.org/drawingml/2006/main">
            <a:r>
              <a:t>真实实验分支experiment/fr18-disposable-20261015-210730保留79ff9b2提交，比较后没有业务价值所以未合入。746a7e1是已经bundle verify、clone、fsck和恢复复现通过的旧软件快照，不冒充今天最终冻结包。今天最终回归是76Go顶层、15Python、6前端，共97项，0失败0跳过。用户亲跑截图属于10-15的71Go加13Python，不能改称亲跑97项。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证据路径：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C:\Users\wqhqq\OneDrive\docs\大学\library-based-software-programming\软件编程大作业\退货对账与差异处理系统\每日工作记录\2026-10-14\截图\2026-10-14-02-真实提交记录-GitHub页面.jpg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C:\Users\wqhqq\OneDrive\docs\大学\library-based-software-programming\软件编程大作业\退货对账与差异处理系统\每日工作记录\2026-10-15\执行交接.md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C:\Users\wqhqq\OneDrive\docs\大学\library-based-software-programming\软件编程大作业\退货对账与差异处理系统\每日工作记录\2026-10-16\原始输出\辅导收工回归\summary.json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适用边界：图为10-14真实GitHub页面，仅显示历史提交。当前版本源代码97b790a，制作前HEAD为4a6ae5e。没有本人上下文占用百分比或实际费用证据，不引用模板中的58%、26%或假定费用。</a:t>
            </a:r>
          </a:p>
          <a:p xmlns:a="http://schemas.openxmlformats.org/drawingml/2006/main">
            <a:r>
              <a:t>材料状态截至2026-10-16，尚未冻结。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计划讲述40秒。尚未由本人计时演练。</a:t>
            </a:r>
          </a:p>
          <a:p xmlns:a="http://schemas.openxmlformats.org/drawingml/2006/main">
            <a:r>
              <a:t>这一页明确制度动作的实际状态。项目技能文件和Hook策略已存在，但不能把文件存在或手动调用策略脚本当成真实宿主执行成功。独立静态审查与增量复审实际由指定的GPT-6.1-sol完成，两次零问题；核心实现子代理随后受服务额度影响中断，主代理接管并完成回归。工程动作仍需用户在可信设置下亲自完成，并保留真正的拒绝和目标未执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证据路径：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C:\Users\wqhqq\OneDrive\docs\大学\library-based-software-programming\软件编程大作业\退货对账与差异处理系统\.agents\skills\run-app\SKILL.md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C:\Users\wqhqq\OneDrive\docs\大学\library-based-software-programming\软件编程大作业\退货对账与差异处理系统\.codex\hooks.json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C:\Users\wqhqq\OneDrive\docs\大学\library-based-software-programming\软件编程大作业\退货对账与差异处理系统\每日工作记录\2026-10-16\性能优化与验证.md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C:\Users\wqhqq\OneDrive\docs\大学\library-based-software-programming\软件编程大作业\退货对账与差异处理系统\课程完成核对表.md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适用边界：未声称技能重启成功、Hook可信deny成功或核心代理完整交回。页面不使用应用API的403截图冒充Hook证据。</a:t>
            </a:r>
          </a:p>
          <a:p xmlns:a="http://schemas.openxmlformats.org/drawingml/2006/main">
            <a:r>
              <a:t>材料状态截至2026-10-16，尚未冻结。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计划讲述40秒。尚未由本人计时演练。</a:t>
            </a:r>
          </a:p>
          <a:p xmlns:a="http://schemas.openxmlformats.org/drawingml/2006/main">
            <a:r>
              <a:t>三例都来自实际问题。第一例用户在WindowsPowerShell5.1运行test.ps1，unittest正常向标准错误输出却被PowerShell当NativeCommandError，修复为独立进程捕获两路输出并按退出码判断，图为用户修复后亲跑通过。第二例Chrome交易查询实际持续等待，10-16修正来源索引、连接顺序与前端独立加载，正式并发测试通过，但未采新版浏览器端总计时。第三例首页301循环经HTTP复现，显式返回嵌入首页后返回200，图为修复后实际登录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证据路径：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C:\Users\wqhqq\OneDrive\docs\大学\library-based-software-programming\软件编程大作业\退货对账与差异处理系统\每日工作记录\2026-10-15\截图\FR12-16浏览器验收\22-本人WindowsPowerShell测试通过.png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C:\Users\wqhqq\OneDrive\docs\大学\library-based-software-programming\软件编程大作业\退货对账与差异处理系统\每日工作记录\2026-10-15\截图\FR12-16浏览器验收\08-交易查询等待状态.jpg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C:\Users\wqhqq\OneDrive\docs\大学\library-based-software-programming\软件编程大作业\退货对账与差异处理系统\每日工作记录\2026-10-15\截图\2026-10-15-06-修复版安全登录页.png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C:\Users\wqhqq\OneDrive\docs\大学\library-based-software-programming\软件编程大作业\退货对账与差异处理系统\每日工作记录\2026-10-15\FR18浏览器截图与PPT暂停.md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C:\Users\wqhqq\OneDrive\docs\大学\library-based-software-programming\软件编程大作业\退货对账与差异处理系统\每日工作记录\2026-10-16\性能优化与验证.md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适用边界：截图分别为修复后测试、修复前等待、修复后首页。没有把不同日期图片拼成同一次测试，也没有把诊断计时代替正式成绩。卡片层次为本项目对执行环境/实现的分析。</a:t>
            </a:r>
          </a:p>
          <a:p xmlns:a="http://schemas.openxmlformats.org/drawingml/2006/main">
            <a:r>
              <a:t>材料状态截至2026-10-16，尚未冻结。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计划讲述30秒。尚未由本人计时演练。</a:t>
            </a:r>
          </a:p>
          <a:p xmlns:a="http://schemas.openxmlformats.org/drawingml/2006/main">
            <a:r>
              <a:t>后续计划不代表已经完成。本人还需受限恢复与反例、可信技能和Hook动作、完整正常及异常预演。真实设备三角色采用Passkey，TOTP按用户要求跳过真机验证，自动协议覆盖保留。人工确认如没有真实依据继续保留待处理，不为演示制造关联。材料还需3至5页报告、最新bundle及九类清单、压缩解包和20MiB限制检查、另一台机器验证、冻结散列和本人发送邮件。计划10-21前完成中期收口，10-22与11-17不执行修补或改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证据路径：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C:\Users\wqhqq\OneDrive\docs\大学\library-based-software-programming\软件编程大作业\退货对账与差异处理系统\本人验收步骤.md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C:\Users\wqhqq\OneDrive\docs\大学\library-based-software-programming\软件编程大作业\退货对账与差异处理系统\课程完成核对表.md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C:\Users\wqhqq\OneDrive\docs\大学\library-based-software-programming\软件编程大作业\退货对账与差异处理系统\执行计划.md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C:\Users\wqhqq\OneDrive\docs\大学\library-based-software-programming\软件编程大作业\退货对账与差异处理系统\每日工作记录\2026-10-16\原始输出\正式NFR01-03\summary.json</a:t>
            </a:r>
          </a:p>
          <a:p xmlns:a="http://schemas.openxmlformats.org/drawingml/2006/main">
            <a:r>
              <a:t>C:\Users\wqhqq\OneDrive\docs\大学\library-based-software-programming\软件编程大作业\退货对账与差异处理系统\每日工作记录\2026-10-16\原始输出\正式NFR04\summary.json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适用边界：当前只存在10-14、10-15、10-16真实工作日，不能伪造八日证据。不能把性能底线通过写成课程整体完成或已发送邮件。45秒和5秒是优选目标，按用户要求已停止进一步优化。</a:t>
            </a:r>
          </a:p>
          <a:p xmlns:a="http://schemas.openxmlformats.org/drawingml/2006/main">
            <a:r>
              <a:t>材料状态截至2026-10-16，尚未冻结。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b4b604154046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e1b9993d745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140070bb9044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ce756a13246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0eb96e8524c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b068cd2fc412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14b7b561c441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b6fb151d74a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537d3e08345f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3fe2acf8e4d6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f345540c3441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5BB386-7211-4B3B-8D1B-9758ED1FE7F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C177A19-0D55-4BF6-9D81-0D2B607EED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298FDC-8B32-46C1-8729-8463A33864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E89D492-3E00-486E-8D92-25DBA47902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29540D-19D5-48E8-99D3-A5481B0637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3BCE6D-BDD6-4E38-9EC9-06F23D0D3B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4B7B73-FC54-4555-9AB0-F16990C1A01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3AC7135-398A-40AB-A37C-6CB8AA8CB5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8FB86E-A4D6-4FA8-8F8D-B9FFA77D67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63C285-1AE3-4DEC-B147-B43F6001C7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169B00-704B-4FD0-8914-372E208C4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347930F-3279-479E-8142-D1A4A70A17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764543-75E7-420C-A3A1-49DA32CFF9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FF83E6D-7F1E-4C6D-9D0C-E4F671D322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FF6DE8-DD30-4DCB-A28C-94CE4CD027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6E3FA5-BD4F-41AF-A94C-1AA714CE2A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C11FF02-03DB-440B-A19F-768E13FCC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3429D9D-95C4-4680-AE24-36F5983EF43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684252E-2908-45A3-B669-91D544118D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16D5B4E-B2C4-4F81-87F8-90FDA2C1F8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FB096F0-C882-4EF2-BA3F-BE09B41C92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CC28CA-786C-4D7E-99F6-ADDDF73BC3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5EB57D-67A9-478D-AC32-CADCA2EB0F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EC0C0E8-8CF8-40B3-8DCD-471B93B237C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EB42BCC-2462-445A-8C06-26B2CFCCB8D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85FEB30-3001-4B58-8F11-39E730E619D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F51F65A-F52D-4B58-9423-F4EB75C46A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98C1B54-BD28-4282-B3A3-AA003E4EB7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5CD8856-87D5-42A2-93F8-9BACB36259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993B56-0C40-48FC-981E-53295F3FD4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2566451-C8B7-4AA6-B10D-B3AD582253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62DF672-427F-4CC9-839A-038C09D9E2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19EDD19-0E17-40A2-984F-5B84F54880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8C672F6-8D92-4C6C-BFED-E3466862E7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350267E-6DA8-4284-A403-E93788E86F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AF512FA-981F-4797-903C-9B1AC9471F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7E0A76-FDFC-4727-B9B1-F6C83C5476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265619F-F9C6-4B0F-8DBA-D873F6809FF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72CFF8A-DE1B-485A-80C7-B3F5E68926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BA5C1FC-E2F3-40C1-91F3-50B6BFA606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E661107-B421-4A85-8A25-DBEBB658E3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B047F84-8460-4898-8B9F-371C66FF97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D8CFBC-5552-4C53-87A6-7898E401BB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50D74BF-C757-4B47-A028-CD39955EAD9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A53F3D2-2BD7-4576-B0D9-278EEB8E68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7BCECD8-A8A0-4109-9E6F-20EF8E4AD8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9D8705B-81E7-44A1-B881-0BB978D92D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7AEA041-7704-4499-BD34-4EA3F1398B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742536-028F-4245-A15A-D38D7B4FAF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D04DD2-52E1-461E-B53F-E292F7345D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6EC7B0-CD46-4A85-BC36-44B6024B7A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FF852B-64A1-4135-8801-26428821B2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BDD8ACC-8D95-4238-A26A-2DA2533D4B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3BB3D7C-B8E4-4EEF-BEDA-2B75DC5CC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8B55FD0-390A-456F-AF32-8013732E4E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135FC8-386F-467E-B74D-E55A3D51EF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8AFF53-5E4B-49C7-8C06-08898BE5F8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3F2948-06B9-4CB4-BD90-26ABB85D6C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b7b3e55470490e" /><Relationship Type="http://schemas.openxmlformats.org/officeDocument/2006/relationships/slideLayout" Target="/ppt/slideLayouts/slideLayout1.xml" Id="Ra18fc431b8fe40b0" /><Relationship Type="http://schemas.openxmlformats.org/officeDocument/2006/relationships/slideLayout" Target="/ppt/slideLayouts/slideLayout2.xml" Id="R76a1ca0df7ea466b" /><Relationship Type="http://schemas.openxmlformats.org/officeDocument/2006/relationships/slideLayout" Target="/ppt/slideLayouts/slideLayout3.xml" Id="Rc2e5f58d813846c4" /><Relationship Type="http://schemas.openxmlformats.org/officeDocument/2006/relationships/slideLayout" Target="/ppt/slideLayouts/slideLayout4.xml" Id="R4a911fb2729f49f8" /><Relationship Type="http://schemas.openxmlformats.org/officeDocument/2006/relationships/slideLayout" Target="/ppt/slideLayouts/slideLayout5.xml" Id="R1732471900234d76" /><Relationship Type="http://schemas.openxmlformats.org/officeDocument/2006/relationships/slideLayout" Target="/ppt/slideLayouts/slideLayout6.xml" Id="R2c0b390c2f3747cc" /><Relationship Type="http://schemas.openxmlformats.org/officeDocument/2006/relationships/slideLayout" Target="/ppt/slideLayouts/slideLayout7.xml" Id="Rc15d85d7e7244cc7" /><Relationship Type="http://schemas.openxmlformats.org/officeDocument/2006/relationships/slideLayout" Target="/ppt/slideLayouts/slideLayout8.xml" Id="R6e67e3fbd5d649bf" /><Relationship Type="http://schemas.openxmlformats.org/officeDocument/2006/relationships/slideLayout" Target="/ppt/slideLayouts/slideLayout9.xml" Id="R170edeae4b0f45c0" /><Relationship Type="http://schemas.openxmlformats.org/officeDocument/2006/relationships/slideLayout" Target="/ppt/slideLayouts/slideLayout10.xml" Id="R97365e0218784ceb" /><Relationship Type="http://schemas.openxmlformats.org/officeDocument/2006/relationships/slideLayout" Target="/ppt/slideLayouts/slideLayout11.xml" Id="R0b77cfe6e8bb4e4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800B6C3-C19C-4133-8BFF-C31B123465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B6D189F-0A23-4F7F-8080-9E83AEE6EE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9BCC19-1462-47A8-A5FB-EF3CAC09435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28C86C4-3C68-457B-AE8A-7F19181AAF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C9EACC-C0BB-4863-A376-C7104911478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8fc431b8fe40b0"/>
    <p:sldLayoutId xmlns:r="http://schemas.openxmlformats.org/officeDocument/2006/relationships" id="2147483650" r:id="R76a1ca0df7ea466b"/>
    <p:sldLayoutId xmlns:r="http://schemas.openxmlformats.org/officeDocument/2006/relationships" id="2147483651" r:id="Rc2e5f58d813846c4"/>
    <p:sldLayoutId xmlns:r="http://schemas.openxmlformats.org/officeDocument/2006/relationships" id="2147483652" r:id="R4a911fb2729f49f8"/>
    <p:sldLayoutId xmlns:r="http://schemas.openxmlformats.org/officeDocument/2006/relationships" id="2147483653" r:id="R1732471900234d76"/>
    <p:sldLayoutId xmlns:r="http://schemas.openxmlformats.org/officeDocument/2006/relationships" id="2147483654" r:id="R2c0b390c2f3747cc"/>
    <p:sldLayoutId xmlns:r="http://schemas.openxmlformats.org/officeDocument/2006/relationships" id="2147483655" r:id="Rc15d85d7e7244cc7"/>
    <p:sldLayoutId xmlns:r="http://schemas.openxmlformats.org/officeDocument/2006/relationships" id="2147483656" r:id="R6e67e3fbd5d649bf"/>
    <p:sldLayoutId xmlns:r="http://schemas.openxmlformats.org/officeDocument/2006/relationships" id="2147483657" r:id="R170edeae4b0f45c0"/>
    <p:sldLayoutId xmlns:r="http://schemas.openxmlformats.org/officeDocument/2006/relationships" id="2147483658" r:id="R97365e0218784ceb"/>
    <p:sldLayoutId xmlns:r="http://schemas.openxmlformats.org/officeDocument/2006/relationships" id="2147483659" r:id="R0b77cfe6e8bb4e46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8c4967a903486a" /><Relationship Type="http://schemas.openxmlformats.org/officeDocument/2006/relationships/notesSlide" Target="/ppt/notesSlides/notesSlide1.xml" Id="R8330a85647244a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db8ff5f2f14fb0" /><Relationship Type="http://schemas.openxmlformats.org/officeDocument/2006/relationships/image" Target="/ppt/media/image.jpeg" Id="R1b3801808d2a4a9d" /><Relationship Type="http://schemas.openxmlformats.org/officeDocument/2006/relationships/notesSlide" Target="/ppt/notesSlides/notesSlide2.xml" Id="Rb07ea3695af641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5d9b68001a4470" /><Relationship Type="http://schemas.openxmlformats.org/officeDocument/2006/relationships/notesSlide" Target="/ppt/notesSlides/notesSlide3.xml" Id="R472aa10859f948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9817064d1042a8" /><Relationship Type="http://schemas.openxmlformats.org/officeDocument/2006/relationships/image" Target="/ppt/media/image2.jpeg" Id="Rc63fc00982c04049" /><Relationship Type="http://schemas.openxmlformats.org/officeDocument/2006/relationships/notesSlide" Target="/ppt/notesSlides/notesSlide4.xml" Id="Rc907a9b0d6cd41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56d3b233a64822" /><Relationship Type="http://schemas.openxmlformats.org/officeDocument/2006/relationships/chart" Target="/ppt/slides/charts/chart1.xml" Id="Rf734297137bb4b0e" /><Relationship Type="http://schemas.openxmlformats.org/officeDocument/2006/relationships/notesSlide" Target="/ppt/notesSlides/notesSlide5.xml" Id="Rf0b393ee866d42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661a47039442d7" /><Relationship Type="http://schemas.openxmlformats.org/officeDocument/2006/relationships/image" Target="/ppt/media/image3.jpeg" Id="R6cd63f08f92b42fb" /><Relationship Type="http://schemas.openxmlformats.org/officeDocument/2006/relationships/notesSlide" Target="/ppt/notesSlides/notesSlide6.xml" Id="R994d0a633b774d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65686729404587" /><Relationship Type="http://schemas.openxmlformats.org/officeDocument/2006/relationships/image" Target="/ppt/media/image4.jpeg" Id="Rcce9b18aa2264ea2" /><Relationship Type="http://schemas.openxmlformats.org/officeDocument/2006/relationships/notesSlide" Target="/ppt/notesSlides/notesSlide7.xml" Id="Rbc7ac21ed1a549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5e317e0b6f4e79" /><Relationship Type="http://schemas.openxmlformats.org/officeDocument/2006/relationships/notesSlide" Target="/ppt/notesSlides/notesSlide8.xml" Id="Ra9b99468f36847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91f9fccf464e8c" /><Relationship Type="http://schemas.openxmlformats.org/officeDocument/2006/relationships/image" Target="/ppt/media/image.png" Id="R26b0fee8ccdc4f48" /><Relationship Type="http://schemas.openxmlformats.org/officeDocument/2006/relationships/image" Target="/ppt/media/image5.jpeg" Id="R49e6c35fb816465c" /><Relationship Type="http://schemas.openxmlformats.org/officeDocument/2006/relationships/image" Target="/ppt/media/image6.jpeg" Id="R4cc6384997004ca5" /><Relationship Type="http://schemas.openxmlformats.org/officeDocument/2006/relationships/notesSlide" Target="/ppt/notesSlides/notesSlide9.xml" Id="Rb8dd0810783d41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ff3d5986f3457a" /><Relationship Type="http://schemas.openxmlformats.org/officeDocument/2006/relationships/notesSlide" Target="/ppt/notesSlides/notesSlide10.xml" Id="R580f5d19e65d469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首次全量流程（秒）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000000"/>
              </a:solidFill>
              <a:latin typeface="宋体"/>
              <a:ea typeface="宋体"/>
              <a:cs typeface="宋体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首次全量流程（秒）</c:v>
          </c:tx>
          <c:spPr>
            <a:solidFill xmlns:a="http://schemas.openxmlformats.org/drawingml/2006/main">
              <a:srgbClr val="255F6D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5F6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6B6B6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10-15正式结果</c:v>
                </c:pt>
                <c:pt idx="1">
                  <c:v>10-16三次最大值</c:v>
                </c:pt>
                <c:pt idx="2">
                  <c:v>必须底线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198.841174</c:v>
                </c:pt>
                <c:pt idx="1">
                  <c:v>72.3367323</c:v>
                </c:pt>
                <c:pt idx="2">
                  <c:v>90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000000"/>
                  </a:solidFill>
                  <a:latin typeface="宋体"/>
                  <a:ea typeface="宋体"/>
                  <a:cs typeface="宋体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112F7B0-D2DA-4A68-8947-225E0FA1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30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退货对账与差异处理系统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F50BBC9-AD77-43E9-BBC3-E43A328D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F6692A-5FA7-4C6B-BB7C-0DC8D5B2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截至2026-10-16，可审阅初稿。证据：97b790a、当日正式量测与既有操作记录</a:t>
            </a:r>
          </a:p>
        </p:txBody>
      </p:sp>
      <p:sp>
        <p:nvSpPr>
          <p:cNvPr id="5" name="封面2">
            <a:extLst xmlns:a="http://schemas.openxmlformats.org/drawingml/2006/main">
              <a:ext uri="{FF2B5EF4-FFF2-40B4-BE49-F238E27FC236}">
                <a16:creationId xmlns:a16="http://schemas.microsoft.com/office/drawing/2014/main" id="{982CFC0C-3907-486B-ADA4-F941611E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0801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0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机国际2502</a:t>
            </a:r>
          </a:p>
        </p:txBody>
      </p:sp>
      <p:sp>
        <p:nvSpPr>
          <p:cNvPr id="6" name="封面3">
            <a:extLst xmlns:a="http://schemas.openxmlformats.org/drawingml/2006/main">
              <a:ext uri="{FF2B5EF4-FFF2-40B4-BE49-F238E27FC236}">
                <a16:creationId xmlns:a16="http://schemas.microsoft.com/office/drawing/2014/main" id="{F7C1D3B7-B488-4256-95BC-57F55DCF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01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0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20251101030 王麒皓</a:t>
            </a:r>
          </a:p>
        </p:txBody>
      </p:sp>
      <p:sp>
        <p:nvSpPr>
          <p:cNvPr id="7" name="封面4">
            <a:extLst xmlns:a="http://schemas.openxmlformats.org/drawingml/2006/main">
              <a:ext uri="{FF2B5EF4-FFF2-40B4-BE49-F238E27FC236}">
                <a16:creationId xmlns:a16="http://schemas.microsoft.com/office/drawing/2014/main" id="{E727B6E7-CC25-4521-ADC8-A0566AF7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10801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0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零售交易Ⅱ（UCI）·挑战档</a:t>
            </a:r>
          </a:p>
        </p:txBody>
      </p:sp>
    </p:spTree>
    <p:extLst>
      <p:ext uri="{BB962C8B-B14F-4D97-AF65-F5344CB8AC3E}">
        <p14:creationId xmlns:p14="http://schemas.microsoft.com/office/powerpoint/2010/main" val="1254649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E1412F8-C8E1-423D-8EE2-FB5845E2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977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一、业务场景与用户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F5FF191-EDEF-44C0-B107-A056C3D9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6A82C58-0713-4A73-9F0F-AF5384CE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证据：要做什么.md，2026-10-15 Chrome实拍01。公开交易真实，人工处理为课程模拟</a:t>
            </a:r>
          </a:p>
        </p:txBody>
      </p:sp>
      <p:sp>
        <p:nvSpPr>
          <p:cNvPr id="5" name="正文1">
            <a:extLst xmlns:a="http://schemas.openxmlformats.org/drawingml/2006/main">
              <a:ext uri="{FF2B5EF4-FFF2-40B4-BE49-F238E27FC236}">
                <a16:creationId xmlns:a16="http://schemas.microsoft.com/office/drawing/2014/main" id="{C22A3AF4-DF44-49EF-A862-46098659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财务核查取消交易，仓库处理本人差异，管理员查看全局。</a:t>
            </a:r>
          </a:p>
        </p:txBody>
      </p:sp>
      <p:sp>
        <p:nvSpPr>
          <p:cNvPr id="6" name="正文2">
            <a:extLst xmlns:a="http://schemas.openxmlformats.org/drawingml/2006/main">
              <a:ext uri="{FF2B5EF4-FFF2-40B4-BE49-F238E27FC236}">
                <a16:creationId xmlns:a16="http://schemas.microsoft.com/office/drawing/2014/main" id="{4B0448CD-3DF5-47FA-A1A1-EAC548A5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目标是减少逐行筛选与备注，把责任人、状态和结论连起来。</a:t>
            </a:r>
          </a:p>
        </p:txBody>
      </p:sp>
      <p:sp>
        <p:nvSpPr>
          <p:cNvPr id="7" name="正文3">
            <a:extLst xmlns:a="http://schemas.openxmlformats.org/drawingml/2006/main">
              <a:ext uri="{FF2B5EF4-FFF2-40B4-BE49-F238E27FC236}">
                <a16:creationId xmlns:a16="http://schemas.microsoft.com/office/drawing/2014/main" id="{93879BD8-1DA7-4CA8-A9B1-3D4E2D51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候选来自保守规则推断，原数据没有真实原单关联号。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531C1-9C6A-4312-A673-D07F773406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801808d2a4a9d"/>
          <a:srcRect xmlns:a="http://schemas.openxmlformats.org/drawingml/2006/main" l="0" t="0" r="0" b="44000"/>
          <a:stretch xmlns:a="http://schemas.openxmlformats.org/drawingml/2006/main"/>
        </p:blipFill>
        <p:spPr>
          <a:xfrm xmlns:a="http://schemas.openxmlformats.org/drawingml/2006/main">
            <a:off x="647700" y="2676525"/>
            <a:ext cx="10801350" cy="3105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56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19F9B6-8D3B-48C4-B52A-ABB2C700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977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二、选题规模对照表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518A249-6170-4EBF-9D2F-0DFF6251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D9A6F9C-62FF-4973-9C60-188262AE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证据：三份规格、选题自查表.md、2026-10-16正式NFR与回归原始输出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8F944-605B-4DFB-9E99-A769E511F62B}"/>
              </a:ext>
            </a:extLst>
          </p:cNvPr>
          <p:cNvGraphicFramePr/>
          <p:nvPr/>
        </p:nvGraphicFramePr>
        <p:xfrm>
          <a:off xmlns:a="http://schemas.openxmlformats.org/drawingml/2006/main" x="647700" y="1504950"/>
          <a:ext xmlns:a="http://schemas.openxmlformats.org/drawingml/2006/main" cx="10801350" cy="4114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29000"/>
                <a:gridCol w="3143250"/>
                <a:gridCol w="4229100"/>
              </a:tblGrid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指标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5A5A5"/>
                      </a:solidFill>
                      <a:prstDash val="solid"/>
                    </a:lnL>
                    <a:lnR w="9525">
                      <a:solidFill>
                        <a:srgbClr val="A5A5A5"/>
                      </a:solidFill>
                      <a:prstDash val="solid"/>
                    </a:lnR>
                    <a:lnT w="9525">
                      <a:solidFill>
                        <a:srgbClr val="A5A5A5"/>
                      </a:solidFill>
                      <a:prstDash val="solid"/>
                    </a:lnT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课程下限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5A5A5"/>
                      </a:solidFill>
                      <a:prstDash val="solid"/>
                    </a:lnR>
                    <a:lnT w="9525">
                      <a:solidFill>
                        <a:srgbClr val="A5A5A5"/>
                      </a:solidFill>
                      <a:prstDash val="solid"/>
                    </a:lnT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当前实际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5A5A5"/>
                      </a:solidFill>
                      <a:prstDash val="solid"/>
                    </a:lnR>
                    <a:lnT w="9525">
                      <a:solidFill>
                        <a:srgbClr val="A5A5A5"/>
                      </a:solidFill>
                      <a:prstDash val="solid"/>
                    </a:lnT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需求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5A5A5"/>
                      </a:solidFill>
                      <a:prstDash val="solid"/>
                    </a:lnL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≥12条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18条FR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不做的范围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5A5A5"/>
                      </a:solidFill>
                      <a:prstDash val="solid"/>
                    </a:lnL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≥2条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4条NR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异常情况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5A5A5"/>
                      </a:solidFill>
                      <a:prstDash val="solid"/>
                    </a:lnL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≥3条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8项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独立模块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5A5A5"/>
                      </a:solidFill>
                      <a:prstDash val="solid"/>
                    </a:lnL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≥3个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5个，真机未全验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非CRUD规则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5A5A5"/>
                      </a:solidFill>
                      <a:prstDash val="solid"/>
                    </a:lnL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≥3条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8条R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口径与清洗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5A5A5"/>
                      </a:solidFill>
                      <a:prstDash val="solid"/>
                    </a:lnL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≥3条且配用例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6条CR，已测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非功能指标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5A5A5"/>
                      </a:solidFill>
                      <a:prstDash val="solid"/>
                    </a:lnL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≥1条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4项底线均通过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5A5A5"/>
                      </a:solidFill>
                      <a:prstDash val="solid"/>
                    </a:lnR>
                    <a:lnB w="9525">
                      <a:solidFill>
                        <a:srgbClr val="A5A5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24124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C29CED7-E4BB-43BC-B212-98379061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977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三、规格骨架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C226844-974F-4B2E-BC5C-FD9DF1C8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5E10BDF-3841-4609-AB14-4A774C88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证据：FR-10、TC-20，2026-10-15 Chrome实拍04及隔离并发测试</a:t>
            </a:r>
          </a:p>
        </p:txBody>
      </p:sp>
      <p:sp>
        <p:nvSpPr>
          <p:cNvPr id="5" name="正文1">
            <a:extLst xmlns:a="http://schemas.openxmlformats.org/drawingml/2006/main">
              <a:ext uri="{FF2B5EF4-FFF2-40B4-BE49-F238E27FC236}">
                <a16:creationId xmlns:a16="http://schemas.microsoft.com/office/drawing/2014/main" id="{4D1B55B0-7E98-437D-80E9-B38A6ED0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FR-01至FR-18覆盖五模块，48条TC区分自动与本人验收。</a:t>
            </a:r>
          </a:p>
        </p:txBody>
      </p:sp>
      <p:sp>
        <p:nvSpPr>
          <p:cNvPr id="6" name="正文2">
            <a:extLst xmlns:a="http://schemas.openxmlformats.org/drawingml/2006/main">
              <a:ext uri="{FF2B5EF4-FFF2-40B4-BE49-F238E27FC236}">
                <a16:creationId xmlns:a16="http://schemas.microsoft.com/office/drawing/2014/main" id="{BC5B91F5-5F6F-423A-BC4F-FE10C92E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FR-10：重复派单须拒绝，并显示当前责任人。</a:t>
            </a:r>
          </a:p>
        </p:txBody>
      </p:sp>
      <p:sp>
        <p:nvSpPr>
          <p:cNvPr id="7" name="正文3">
            <a:extLst xmlns:a="http://schemas.openxmlformats.org/drawingml/2006/main">
              <a:ext uri="{FF2B5EF4-FFF2-40B4-BE49-F238E27FC236}">
                <a16:creationId xmlns:a16="http://schemas.microsoft.com/office/drawing/2014/main" id="{5E8C73D7-9AB5-4377-A3D0-D6A67725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TC-20：已派warehouse再派，拒绝且仍显示warehouse。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65861-E3B1-4D75-8298-B5B83D9766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fc00982c04049"/>
          <a:srcRect xmlns:a="http://schemas.openxmlformats.org/drawingml/2006/main" l="15000" t="0" r="0" b="50000"/>
          <a:stretch xmlns:a="http://schemas.openxmlformats.org/drawingml/2006/main"/>
        </p:blipFill>
        <p:spPr>
          <a:xfrm xmlns:a="http://schemas.openxmlformats.org/drawingml/2006/main">
            <a:off x="647700" y="2676525"/>
            <a:ext cx="10801350" cy="3267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855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2C81916-5474-4295-9573-811DECE1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977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四、技术选型与决定记录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EF1F45-A761-499E-A206-31ED7153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A1EC984-549F-4449-AA65-817CD31E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证据：决定记录.md、97b790a、10-15/16正式量测。取三次最大值，未清OS文件缓存</a:t>
            </a:r>
          </a:p>
        </p:txBody>
      </p:sp>
      <p:sp>
        <p:nvSpPr>
          <p:cNvPr id="5" name="正文1">
            <a:extLst xmlns:a="http://schemas.openxmlformats.org/drawingml/2006/main">
              <a:ext uri="{FF2B5EF4-FFF2-40B4-BE49-F238E27FC236}">
                <a16:creationId xmlns:a16="http://schemas.microsoft.com/office/drawing/2014/main" id="{8750FA58-401A-40D5-91E6-7FF2AECD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选择Go/Gin与SQLite，比较过FastAPI等方案，保留本地部署。</a:t>
            </a:r>
          </a:p>
        </p:txBody>
      </p:sp>
      <p:sp>
        <p:nvSpPr>
          <p:cNvPr id="6" name="正文2">
            <a:extLst xmlns:a="http://schemas.openxmlformats.org/drawingml/2006/main">
              <a:ext uri="{FF2B5EF4-FFF2-40B4-BE49-F238E27FC236}">
                <a16:creationId xmlns:a16="http://schemas.microsoft.com/office/drawing/2014/main" id="{3C12B6C2-B3CD-4E50-A8D4-EC9D6685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本轮采用索引分页和有界批量事务，代价是更复杂的导入控制。</a:t>
            </a:r>
          </a:p>
        </p:txBody>
      </p:sp>
      <p:sp>
        <p:nvSpPr>
          <p:cNvPr id="7" name="正文3">
            <a:extLst xmlns:a="http://schemas.openxmlformats.org/drawingml/2006/main">
              <a:ext uri="{FF2B5EF4-FFF2-40B4-BE49-F238E27FC236}">
                <a16:creationId xmlns:a16="http://schemas.microsoft.com/office/drawing/2014/main" id="{F535A6A3-C202-4D06-838B-9EB54B4B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四项底线通过：一万行1.84s，全量72.34s，重算10.96s，查询P95 11.72ms。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43ABFB23-C3F8-4C93-A725-B7B9DAB335D8}"/>
              </a:ext>
            </a:extLst>
          </p:cNvPr>
          <p:cNvGraphicFramePr/>
          <p:nvPr/>
        </p:nvGraphicFramePr>
        <p:xfrm>
          <a:off xmlns:a="http://schemas.openxmlformats.org/drawingml/2006/main" x="1123950" y="2762250"/>
          <a:ext xmlns:a="http://schemas.openxmlformats.org/drawingml/2006/main" cx="99060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34297137bb4b0e"/>
          </a:graphicData>
        </a:graphic>
      </p:graphicFrame>
    </p:spTree>
    <p:extLst>
      <p:ext uri="{BB962C8B-B14F-4D97-AF65-F5344CB8AC3E}">
        <p14:creationId xmlns:p14="http://schemas.microsoft.com/office/powerpoint/2010/main" val="5318538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6391B2C-BC96-460E-AB9E-CB8FD16F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977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五、核心链路演示与数据准备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248A3FB-A8A2-47F6-8291-881EC6D6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0E63842-142D-4F44-9784-F5938590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证据：官方all守恒输出、year1配对输出、2026-10-15 Chrome实拍14与审计</a:t>
            </a:r>
          </a:p>
        </p:txBody>
      </p:sp>
      <p:sp>
        <p:nvSpPr>
          <p:cNvPr id="5" name="正文1">
            <a:extLst xmlns:a="http://schemas.openxmlformats.org/drawingml/2006/main">
              <a:ext uri="{FF2B5EF4-FFF2-40B4-BE49-F238E27FC236}">
                <a16:creationId xmlns:a16="http://schemas.microsoft.com/office/drawing/2014/main" id="{C0C6C6EC-AF72-4BCF-AE9E-3A610CE4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官方两表1,067,371行，接纳1,038,818行，排除28,553行。</a:t>
            </a:r>
          </a:p>
        </p:txBody>
      </p:sp>
      <p:sp>
        <p:nvSpPr>
          <p:cNvPr id="6" name="正文2">
            <a:extLst xmlns:a="http://schemas.openxmlformats.org/drawingml/2006/main">
              <a:ext uri="{FF2B5EF4-FFF2-40B4-BE49-F238E27FC236}">
                <a16:creationId xmlns:a16="http://schemas.microsoft.com/office/drawing/2014/main" id="{8CD10C0D-8268-4539-9CE0-0AD35EEE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year1取消10,205条，自动5,214条，初始差异4,991条。</a:t>
            </a:r>
          </a:p>
        </p:txBody>
      </p:sp>
      <p:sp>
        <p:nvSpPr>
          <p:cNvPr id="7" name="正文3">
            <a:extLst xmlns:a="http://schemas.openxmlformats.org/drawingml/2006/main">
              <a:ext uri="{FF2B5EF4-FFF2-40B4-BE49-F238E27FC236}">
                <a16:creationId xmlns:a16="http://schemas.microsoft.com/office/drawing/2014/main" id="{13A5CE0C-F2DA-4CCA-965A-B98BFD78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财务派单后由责任人开始处理，填写核查结论再关闭。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BE224-8125-4A0E-8BBD-96326CB373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63f08f92b42fb"/>
          <a:srcRect xmlns:a="http://schemas.openxmlformats.org/drawingml/2006/main" l="55000" t="41000" r="2500" b="32000"/>
          <a:stretch xmlns:a="http://schemas.openxmlformats.org/drawingml/2006/main"/>
        </p:blipFill>
        <p:spPr>
          <a:xfrm xmlns:a="http://schemas.openxmlformats.org/drawingml/2006/main">
            <a:off x="1190625" y="2676525"/>
            <a:ext cx="9810750" cy="320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516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EFF97E3-D9A5-4497-938C-50BC82E1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977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六、工程化控制物证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22086A8-AEE3-4213-90E0-647DFA6C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C87F65E-4983-40A8-90A2-DFD12693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证据：79ff9b2、746a7e1恢复记录、当日97项回归。图为10-14历史提交页面</a:t>
            </a:r>
          </a:p>
        </p:txBody>
      </p:sp>
      <p:sp>
        <p:nvSpPr>
          <p:cNvPr id="5" name="正文1">
            <a:extLst xmlns:a="http://schemas.openxmlformats.org/drawingml/2006/main">
              <a:ext uri="{FF2B5EF4-FFF2-40B4-BE49-F238E27FC236}">
                <a16:creationId xmlns:a16="http://schemas.microsoft.com/office/drawing/2014/main" id="{D2E832F4-FA8D-45C7-AECA-5F707E62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可控：按FR编号保存修改与原始输出，97项自动回归通过。</a:t>
            </a:r>
          </a:p>
        </p:txBody>
      </p:sp>
      <p:sp>
        <p:nvSpPr>
          <p:cNvPr id="6" name="正文2">
            <a:extLst xmlns:a="http://schemas.openxmlformats.org/drawingml/2006/main">
              <a:ext uri="{FF2B5EF4-FFF2-40B4-BE49-F238E27FC236}">
                <a16:creationId xmlns:a16="http://schemas.microsoft.com/office/drawing/2014/main" id="{062EBE8D-B7B2-4E4D-BE8A-3E2F697E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可回退：实验79ff9b2未合入，746a7e1快照已恢复核验。</a:t>
            </a:r>
          </a:p>
        </p:txBody>
      </p:sp>
      <p:sp>
        <p:nvSpPr>
          <p:cNvPr id="7" name="正文3">
            <a:extLst xmlns:a="http://schemas.openxmlformats.org/drawingml/2006/main">
              <a:ext uri="{FF2B5EF4-FFF2-40B4-BE49-F238E27FC236}">
                <a16:creationId xmlns:a16="http://schemas.microsoft.com/office/drawing/2014/main" id="{76854395-AD72-4835-A19E-4AE1690A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可审查：保存差异与失败证据，本人上下文管理动作仍待补。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DB994-F90C-4552-AE61-B7DAF7DE63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9b18aa2264ea2"/>
          <a:stretch xmlns:a="http://schemas.openxmlformats.org/drawingml/2006/main"/>
        </p:blipFill>
        <p:spPr>
          <a:xfrm xmlns:a="http://schemas.openxmlformats.org/drawingml/2006/main">
            <a:off x="3806396" y="2676525"/>
            <a:ext cx="4579208" cy="3228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055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8E57BD9-BCF5-49BC-B63E-22BEDE44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977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七、制度物证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4CA84BA-D6CB-4C28-889C-FB4BC3D5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D214620-C07E-4874-9B79-15D038F3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证据：run-app/SKILL.md、只读静态审查记录、Hook策略自测。未执行项明确待验</a:t>
            </a:r>
          </a:p>
        </p:txBody>
      </p:sp>
      <p:sp>
        <p:nvSpPr>
          <p:cNvPr id="5" name="正文1">
            <a:extLst xmlns:a="http://schemas.openxmlformats.org/drawingml/2006/main">
              <a:ext uri="{FF2B5EF4-FFF2-40B4-BE49-F238E27FC236}">
                <a16:creationId xmlns:a16="http://schemas.microsoft.com/office/drawing/2014/main" id="{E27ED7EE-B293-4B64-AAD5-3132B52C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技能：run-app文件已备，重启后的真实调用仍待本人验证。</a:t>
            </a:r>
          </a:p>
        </p:txBody>
      </p:sp>
      <p:sp>
        <p:nvSpPr>
          <p:cNvPr id="6" name="正文2">
            <a:extLst xmlns:a="http://schemas.openxmlformats.org/drawingml/2006/main">
              <a:ext uri="{FF2B5EF4-FFF2-40B4-BE49-F238E27FC236}">
                <a16:creationId xmlns:a16="http://schemas.microsoft.com/office/drawing/2014/main" id="{D8C0A400-04E4-4DD6-A9BB-560A10A6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子代理：两轮静态审查均零问题，中断的核心任务由主代理接管。</a:t>
            </a:r>
          </a:p>
        </p:txBody>
      </p:sp>
      <p:sp>
        <p:nvSpPr>
          <p:cNvPr id="7" name="正文3">
            <a:extLst xmlns:a="http://schemas.openxmlformats.org/drawingml/2006/main">
              <a:ext uri="{FF2B5EF4-FFF2-40B4-BE49-F238E27FC236}">
                <a16:creationId xmlns:a16="http://schemas.microsoft.com/office/drawing/2014/main" id="{8A95D61A-8F3C-4097-A5E9-5DA55A86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Hook：策略自测已过，可信配置下真实deny仍待本人触发。</a:t>
            </a:r>
          </a:p>
        </p:txBody>
      </p:sp>
    </p:spTree>
    <p:extLst>
      <p:ext uri="{BB962C8B-B14F-4D97-AF65-F5344CB8AC3E}">
        <p14:creationId xmlns:p14="http://schemas.microsoft.com/office/powerpoint/2010/main" val="3132947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F48E891-F87E-4001-9767-0E3487B8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977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八、失败与修复记录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7489407-653F-47DA-A4D7-08FCE846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90D4CB-0F2C-402C-B903-3D383785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证据：10-15 PS5亲跑截图22、查询等待实拍08、安全登录实拍06与修复提交</a:t>
            </a:r>
          </a:p>
        </p:txBody>
      </p:sp>
      <p:sp>
        <p:nvSpPr>
          <p:cNvPr id="5" name="失败卡片1">
            <a:extLst xmlns:a="http://schemas.openxmlformats.org/drawingml/2006/main">
              <a:ext uri="{FF2B5EF4-FFF2-40B4-BE49-F238E27FC236}">
                <a16:creationId xmlns:a16="http://schemas.microsoft.com/office/drawing/2014/main" id="{0CD9EE13-0C9B-46EB-987A-EA2CBB33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33718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PS5误报标准错误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执行层：亲跑发现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修：保留原流与退出码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82098-FE12-478D-97BD-26D75908E7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0fee8ccdc4f48"/>
          <a:srcRect xmlns:a="http://schemas.openxmlformats.org/drawingml/2006/main" l="0" t="50000" r="65000" b="32000"/>
          <a:stretch xmlns:a="http://schemas.openxmlformats.org/drawingml/2006/main"/>
        </p:blipFill>
        <p:spPr>
          <a:xfrm xmlns:a="http://schemas.openxmlformats.org/drawingml/2006/main">
            <a:off x="647700" y="3190875"/>
            <a:ext cx="3371850" cy="1085850"/>
          </a:xfrm>
          <a:prstGeom xmlns:a="http://schemas.openxmlformats.org/drawingml/2006/main" prst="rect">
            <a:avLst/>
          </a:prstGeom>
        </p:spPr>
      </p:pic>
      <p:sp>
        <p:nvSpPr>
          <p:cNvPr id="7" name="失败卡片2">
            <a:extLst xmlns:a="http://schemas.openxmlformats.org/drawingml/2006/main">
              <a:ext uri="{FF2B5EF4-FFF2-40B4-BE49-F238E27FC236}">
                <a16:creationId xmlns:a16="http://schemas.microsoft.com/office/drawing/2014/main" id="{F43AFC53-F615-47A7-897D-08195BA7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71625"/>
            <a:ext cx="33718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查询页持续等待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实现层：界面暴露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修：索引与独立加载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45AE1-090D-44FC-B731-67BDA64AD6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6c35fb816465c"/>
          <a:srcRect xmlns:a="http://schemas.openxmlformats.org/drawingml/2006/main" l="16000" t="42000" r="58000" b="30000"/>
          <a:stretch xmlns:a="http://schemas.openxmlformats.org/drawingml/2006/main"/>
        </p:blipFill>
        <p:spPr>
          <a:xfrm xmlns:a="http://schemas.openxmlformats.org/drawingml/2006/main">
            <a:off x="4362450" y="3190875"/>
            <a:ext cx="3371850" cy="1866900"/>
          </a:xfrm>
          <a:prstGeom xmlns:a="http://schemas.openxmlformats.org/drawingml/2006/main" prst="rect">
            <a:avLst/>
          </a:prstGeom>
        </p:spPr>
      </p:pic>
      <p:sp>
        <p:nvSpPr>
          <p:cNvPr id="9" name="失败卡片3">
            <a:extLst xmlns:a="http://schemas.openxmlformats.org/drawingml/2006/main">
              <a:ext uri="{FF2B5EF4-FFF2-40B4-BE49-F238E27FC236}">
                <a16:creationId xmlns:a16="http://schemas.microsoft.com/office/drawing/2014/main" id="{C64D6BA3-9497-42DD-8683-26B1FECE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71625"/>
            <a:ext cx="33718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首页301循环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实现层：HTTP复现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修：显式返回嵌入首页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FD5A7-A224-4BE4-A6A9-F2B2E10C3C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6384997004ca5"/>
          <a:stretch xmlns:a="http://schemas.openxmlformats.org/drawingml/2006/main"/>
        </p:blipFill>
        <p:spPr>
          <a:xfrm xmlns:a="http://schemas.openxmlformats.org/drawingml/2006/main">
            <a:off x="8434356" y="3000375"/>
            <a:ext cx="2657537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055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BA028E0-4F9B-4DF2-AEA7-5F4FABA9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977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九、剩余工作、风险与计划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177D7E0-683E-416A-B1FB-F1473D7A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EC8CB1B-1DA3-4896-A099-4C356F8E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证据：本人验收步骤.md、课程完成核对表.md、执行计划.md。下列日期均为后续计划</a:t>
            </a:r>
          </a:p>
        </p:txBody>
      </p:sp>
      <p:sp>
        <p:nvSpPr>
          <p:cNvPr id="5" name="正文1">
            <a:extLst xmlns:a="http://schemas.openxmlformats.org/drawingml/2006/main">
              <a:ext uri="{FF2B5EF4-FFF2-40B4-BE49-F238E27FC236}">
                <a16:creationId xmlns:a16="http://schemas.microsoft.com/office/drawing/2014/main" id="{9A44C969-5315-401E-AEDF-7F014CF0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0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剩余：FR-14恢复真机反例、FR-18技能/Hook与报告，拟10-17至21收口。</a:t>
            </a:r>
          </a:p>
        </p:txBody>
      </p:sp>
      <p:sp>
        <p:nvSpPr>
          <p:cNvPr id="6" name="正文2">
            <a:extLst xmlns:a="http://schemas.openxmlformats.org/drawingml/2006/main">
              <a:ext uri="{FF2B5EF4-FFF2-40B4-BE49-F238E27FC236}">
                <a16:creationId xmlns:a16="http://schemas.microsoft.com/office/drawing/2014/main" id="{D21D21C3-2EEA-4018-AD32-513FDCED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0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风险一：首次全量45秒、重算5秒优选目标未达，四项必须底线已过。</a:t>
            </a:r>
          </a:p>
        </p:txBody>
      </p:sp>
      <p:sp>
        <p:nvSpPr>
          <p:cNvPr id="7" name="正文3">
            <a:extLst xmlns:a="http://schemas.openxmlformats.org/drawingml/2006/main">
              <a:ext uri="{FF2B5EF4-FFF2-40B4-BE49-F238E27FC236}">
                <a16:creationId xmlns:a16="http://schemas.microsoft.com/office/drawing/2014/main" id="{AAC73BF7-2B69-4A5D-90B1-2FCC9FE0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0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风险二：本人完整预演与交付冻结未完成，计划10-21闭合，10-22留空。</a:t>
            </a:r>
          </a:p>
        </p:txBody>
      </p:sp>
      <p:sp>
        <p:nvSpPr>
          <p:cNvPr id="8" name="正文4">
            <a:extLst xmlns:a="http://schemas.openxmlformats.org/drawingml/2006/main">
              <a:ext uri="{FF2B5EF4-FFF2-40B4-BE49-F238E27FC236}">
                <a16:creationId xmlns:a16="http://schemas.microsoft.com/office/drawing/2014/main" id="{F50D74F8-7AC3-4F13-8636-3F5A19E0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01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0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请老师确认：没有原单关联号时，是否认可保守推断与资料不足结案。</a:t>
            </a:r>
          </a:p>
        </p:txBody>
      </p:sp>
    </p:spTree>
    <p:extLst>
      <p:ext uri="{BB962C8B-B14F-4D97-AF65-F5344CB8AC3E}">
        <p14:creationId xmlns:p14="http://schemas.microsoft.com/office/powerpoint/2010/main" val="108079472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2026-10-16T10:30:15.2840000Z</dcterms:created>
  <dcterms:modified xsi:type="dcterms:W3CDTF">2026-10-16T10:30:15.2840000Z</dcterms:modified>
</coreProperties>
</file>